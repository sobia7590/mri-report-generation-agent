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74"/>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D1B2A"/>
                </a:solidFill>
                <a:latin typeface="Arial"/>
              </a:defRPr>
            </a:pPr>
            <a:r>
              <a:rPr lang="en-US" sz="1300" b="0" i="0" u="none" strike="noStrike">
                <a:solidFill>
                  <a:srgbClr val="0D1B2A"/>
                </a:solidFill>
                <a:latin typeface="Arial"/>
              </a:rPr>
              <a:t>AI vs Baseline — Tumor Detection Metrics</a:t>
            </a:r>
          </a:p>
        </c:rich>
      </c:tx>
      <c:overlay val="0"/>
    </c:title>
    <c:autoTitleDeleted val="0"/>
    <c:plotArea>
      <c:layout/>
      <c:barChart>
        <c:barDir val="col"/>
        <c:grouping val="clustered"/>
        <c:varyColors val="0"/>
        <c:ser>
          <c:idx val="0"/>
          <c:order val="0"/>
          <c:tx>
            <c:strRef>
              <c:f>Sheet1!$B$1</c:f>
              <c:strCache>
                <c:ptCount val="1"/>
                <c:pt idx="0">
                  <c:v>AI Model</c:v>
                </c:pt>
              </c:strCache>
            </c:strRef>
          </c:tx>
          <c:spPr>
            <a:solidFill>
              <a:srgbClr val="007A73"/>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c:v>
                </c:pt>
              </c:strCache>
            </c:strRef>
          </c:cat>
          <c:val>
            <c:numRef>
              <c:f>Sheet1!$B$2:$B$5</c:f>
              <c:numCache>
                <c:formatCode>General</c:formatCode>
                <c:ptCount val="4"/>
                <c:pt idx="0">
                  <c:v>0.95</c:v>
                </c:pt>
                <c:pt idx="1">
                  <c:v>1</c:v>
                </c:pt>
                <c:pt idx="2">
                  <c:v>0.95</c:v>
                </c:pt>
                <c:pt idx="3">
                  <c:v>0.97</c:v>
                </c:pt>
              </c:numCache>
            </c:numRef>
          </c:val>
          <c:extLst>
            <c:ext xmlns:c16="http://schemas.microsoft.com/office/drawing/2014/chart" uri="{C3380CC4-5D6E-409C-BE32-E72D297353CC}">
              <c16:uniqueId val="{00000000-CA73-415B-A8C8-6C4C82FBB0EC}"/>
            </c:ext>
          </c:extLst>
        </c:ser>
        <c:ser>
          <c:idx val="1"/>
          <c:order val="1"/>
          <c:tx>
            <c:strRef>
              <c:f>Sheet1!$C$1</c:f>
              <c:strCache>
                <c:ptCount val="1"/>
                <c:pt idx="0">
                  <c:v>Baseline</c:v>
                </c:pt>
              </c:strCache>
            </c:strRef>
          </c:tx>
          <c:spPr>
            <a:solidFill>
              <a:srgbClr val="CBD5E1"/>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c:v>
                </c:pt>
              </c:strCache>
            </c:strRef>
          </c:cat>
          <c:val>
            <c:numRef>
              <c:f>Sheet1!$C$2:$C$5</c:f>
              <c:numCache>
                <c:formatCode>General</c:formatCode>
                <c:ptCount val="4"/>
                <c:pt idx="0">
                  <c:v>0</c:v>
                </c:pt>
                <c:pt idx="1">
                  <c:v>0</c:v>
                </c:pt>
                <c:pt idx="2">
                  <c:v>0</c:v>
                </c:pt>
                <c:pt idx="3">
                  <c:v>0</c:v>
                </c:pt>
              </c:numCache>
            </c:numRef>
          </c:val>
          <c:extLst>
            <c:ext xmlns:c16="http://schemas.microsoft.com/office/drawing/2014/chart" uri="{C3380CC4-5D6E-409C-BE32-E72D297353CC}">
              <c16:uniqueId val="{00000001-CA73-415B-A8C8-6C4C82FBB0E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AFA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3684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what we built, the BraTS 2020 dataset, and the clinical motivation. Emphasise that radiologists still do final review — AI assists, not replaces.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image in turn. The FLAIR shows the tumor clearly. The 4-panel shows why all sequences matter — T1ce confirms ring enhancement which is the key sign of glioblastoma. The overlay shows the ground truth labels we compare against.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chart — AI scores 0.95–1.0 across all metrics while baseline scores 0 on everything. Laterality is the weakness — AI tends to say bilateral when it's actually left or right. Mention this honestly as a known limitation and future improvement.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6 improvements in 30 seconds then switch to the browser. Open volume_115 — show FLAIR, 4-sequence panel, GT overlay, then AI Report (glioblastoma diagnosis), then Baseline Comparison, then Evaluation tab. Keep demo to 3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913632" cy="5143500"/>
          </a:xfrm>
          <a:prstGeom prst="rect">
            <a:avLst/>
          </a:prstGeom>
          <a:solidFill>
            <a:srgbClr val="007A73"/>
          </a:solidFill>
          <a:ln w="12700">
            <a:solidFill>
              <a:srgbClr val="007A73"/>
            </a:solidFill>
            <a:prstDash val="solid"/>
          </a:ln>
        </p:spPr>
        <p:txBody>
          <a:bodyPr/>
          <a:lstStyle/>
          <a:p>
            <a:endParaRPr lang="en-US"/>
          </a:p>
        </p:txBody>
      </p:sp>
      <p:sp>
        <p:nvSpPr>
          <p:cNvPr id="3" name="Text 1"/>
          <p:cNvSpPr/>
          <p:nvPr/>
        </p:nvSpPr>
        <p:spPr>
          <a:xfrm>
            <a:off x="347472" y="502920"/>
            <a:ext cx="3566160" cy="2194560"/>
          </a:xfrm>
          <a:prstGeom prst="rect">
            <a:avLst/>
          </a:prstGeom>
          <a:noFill/>
          <a:ln/>
        </p:spPr>
        <p:txBody>
          <a:bodyPr wrap="square" lIns="0" tIns="0" rIns="0" bIns="0" rtlCol="0" anchor="t"/>
          <a:lstStyle/>
          <a:p>
            <a:pPr marL="0" indent="0" algn="l">
              <a:buNone/>
            </a:pPr>
            <a:r>
              <a:rPr lang="en-US" sz="3600" b="1" dirty="0">
                <a:solidFill>
                  <a:srgbClr val="FFFFFF"/>
                </a:solidFill>
                <a:latin typeface="Calibri" pitchFamily="34" charset="0"/>
                <a:ea typeface="Calibri" pitchFamily="34" charset="-122"/>
                <a:cs typeface="Calibri" pitchFamily="34" charset="-120"/>
              </a:rPr>
              <a:t>MRI Report</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Generation</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Agent</a:t>
            </a:r>
            <a:endParaRPr lang="en-US" sz="3600" dirty="0"/>
          </a:p>
        </p:txBody>
      </p:sp>
      <p:sp>
        <p:nvSpPr>
          <p:cNvPr id="4" name="Shape 2"/>
          <p:cNvSpPr/>
          <p:nvPr/>
        </p:nvSpPr>
        <p:spPr>
          <a:xfrm>
            <a:off x="347472" y="2788920"/>
            <a:ext cx="1645920" cy="36576"/>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347472" y="2926080"/>
            <a:ext cx="3520440" cy="822960"/>
          </a:xfrm>
          <a:prstGeom prst="rect">
            <a:avLst/>
          </a:prstGeom>
          <a:noFill/>
          <a:ln/>
        </p:spPr>
        <p:txBody>
          <a:bodyPr wrap="square" lIns="0" tIns="0" rIns="0" bIns="0" rtlCol="0" anchor="ctr"/>
          <a:lstStyle/>
          <a:p>
            <a:pPr marL="0" indent="0" algn="l">
              <a:buNone/>
            </a:pPr>
            <a:r>
              <a:rPr lang="en-US" sz="1300" dirty="0">
                <a:solidFill>
                  <a:srgbClr val="CCEAE8"/>
                </a:solidFill>
                <a:latin typeface="Calibri" pitchFamily="34" charset="0"/>
                <a:ea typeface="Calibri" pitchFamily="34" charset="-122"/>
                <a:cs typeface="Calibri" pitchFamily="34" charset="-120"/>
              </a:rPr>
              <a:t>AI-Powered Brain Tumor</a:t>
            </a:r>
            <a:endParaRPr lang="en-US" sz="1300" dirty="0"/>
          </a:p>
          <a:p>
            <a:pPr marL="0" indent="0" algn="l">
              <a:buNone/>
            </a:pPr>
            <a:r>
              <a:rPr lang="en-US" sz="1300" dirty="0">
                <a:solidFill>
                  <a:srgbClr val="CCEAE8"/>
                </a:solidFill>
                <a:latin typeface="Calibri" pitchFamily="34" charset="0"/>
                <a:ea typeface="Calibri" pitchFamily="34" charset="-122"/>
                <a:cs typeface="Calibri" pitchFamily="34" charset="-120"/>
              </a:rPr>
              <a:t>Radiology Reporting</a:t>
            </a:r>
            <a:endParaRPr lang="en-US" sz="1300" dirty="0"/>
          </a:p>
        </p:txBody>
      </p:sp>
      <p:sp>
        <p:nvSpPr>
          <p:cNvPr id="6" name="Shape 4"/>
          <p:cNvSpPr/>
          <p:nvPr/>
        </p:nvSpPr>
        <p:spPr>
          <a:xfrm>
            <a:off x="347472" y="3931920"/>
            <a:ext cx="2011680" cy="384048"/>
          </a:xfrm>
          <a:prstGeom prst="roundRect">
            <a:avLst>
              <a:gd name="adj" fmla="val 14286"/>
            </a:avLst>
          </a:prstGeom>
          <a:solidFill>
            <a:srgbClr val="FFFFFF">
              <a:alpha val="20000"/>
            </a:srgbClr>
          </a:solidFill>
          <a:ln w="12700">
            <a:solidFill>
              <a:srgbClr val="FFFFFF"/>
            </a:solidFill>
            <a:prstDash val="solid"/>
          </a:ln>
        </p:spPr>
        <p:txBody>
          <a:bodyPr/>
          <a:lstStyle/>
          <a:p>
            <a:endParaRPr lang="en-US"/>
          </a:p>
        </p:txBody>
      </p:sp>
      <p:sp>
        <p:nvSpPr>
          <p:cNvPr id="7" name="Text 5"/>
          <p:cNvSpPr/>
          <p:nvPr/>
        </p:nvSpPr>
        <p:spPr>
          <a:xfrm>
            <a:off x="347472" y="3931920"/>
            <a:ext cx="20116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 BraTS 2020</a:t>
            </a:r>
            <a:endParaRPr lang="en-US" sz="1100" dirty="0"/>
          </a:p>
        </p:txBody>
      </p:sp>
      <p:sp>
        <p:nvSpPr>
          <p:cNvPr id="8" name="Text 6"/>
          <p:cNvSpPr/>
          <p:nvPr/>
        </p:nvSpPr>
        <p:spPr>
          <a:xfrm>
            <a:off x="4572000" y="411480"/>
            <a:ext cx="4297680" cy="347472"/>
          </a:xfrm>
          <a:prstGeom prst="rect">
            <a:avLst/>
          </a:prstGeom>
          <a:noFill/>
          <a:ln/>
        </p:spPr>
        <p:txBody>
          <a:bodyPr wrap="square" lIns="0" tIns="0" rIns="0" bIns="0" rtlCol="0" anchor="ctr"/>
          <a:lstStyle/>
          <a:p>
            <a:pPr marL="0" indent="0">
              <a:buNone/>
            </a:pPr>
            <a:r>
              <a:rPr lang="en-US" sz="1500" b="1" dirty="0">
                <a:solidFill>
                  <a:srgbClr val="007A73"/>
                </a:solidFill>
                <a:latin typeface="Calibri" pitchFamily="34" charset="0"/>
                <a:ea typeface="Calibri" pitchFamily="34" charset="-122"/>
                <a:cs typeface="Calibri" pitchFamily="34" charset="-120"/>
              </a:rPr>
              <a:t>What We Created</a:t>
            </a:r>
            <a:endParaRPr lang="en-US" sz="1500" dirty="0"/>
          </a:p>
        </p:txBody>
      </p:sp>
      <p:sp>
        <p:nvSpPr>
          <p:cNvPr id="9" name="Shape 7"/>
          <p:cNvSpPr/>
          <p:nvPr/>
        </p:nvSpPr>
        <p:spPr>
          <a:xfrm>
            <a:off x="4572000" y="777240"/>
            <a:ext cx="4297680" cy="1143000"/>
          </a:xfrm>
          <a:prstGeom prst="roundRect">
            <a:avLst>
              <a:gd name="adj" fmla="val 6400"/>
            </a:avLst>
          </a:prstGeom>
          <a:solidFill>
            <a:srgbClr val="E6F3F2"/>
          </a:solidFill>
          <a:ln w="6350">
            <a:solidFill>
              <a:srgbClr val="007A73"/>
            </a:solidFill>
            <a:prstDash val="solid"/>
          </a:ln>
        </p:spPr>
        <p:txBody>
          <a:bodyPr/>
          <a:lstStyle/>
          <a:p>
            <a:endParaRPr lang="en-US"/>
          </a:p>
        </p:txBody>
      </p:sp>
      <p:sp>
        <p:nvSpPr>
          <p:cNvPr id="10" name="Text 8"/>
          <p:cNvSpPr/>
          <p:nvPr/>
        </p:nvSpPr>
        <p:spPr>
          <a:xfrm>
            <a:off x="4709160" y="868680"/>
            <a:ext cx="4023360" cy="987552"/>
          </a:xfrm>
          <a:prstGeom prst="rect">
            <a:avLst/>
          </a:prstGeom>
          <a:noFill/>
          <a:ln/>
        </p:spPr>
        <p:txBody>
          <a:bodyPr wrap="square" lIns="0" tIns="0" rIns="0" bIns="0" rtlCol="0" anchor="t"/>
          <a:lstStyle/>
          <a:p>
            <a:pPr marL="0" indent="0" algn="l">
              <a:buNone/>
            </a:pPr>
            <a:r>
              <a:rPr lang="en-US" sz="1150" dirty="0">
                <a:solidFill>
                  <a:srgbClr val="3D4F5C"/>
                </a:solidFill>
                <a:latin typeface="Calibri" pitchFamily="34" charset="0"/>
                <a:ea typeface="Calibri" pitchFamily="34" charset="-122"/>
                <a:cs typeface="Calibri" pitchFamily="34" charset="-120"/>
              </a:rPr>
              <a:t>An end-to-end agentic AI system that reads brain MRI scans and automatically generates structured radiology reports — covering Findings, Impression, Recommendations and Confidence — using Claude (Anthropic's large vision-language model).</a:t>
            </a:r>
            <a:endParaRPr lang="en-US" sz="1150" dirty="0"/>
          </a:p>
        </p:txBody>
      </p:sp>
      <p:sp>
        <p:nvSpPr>
          <p:cNvPr id="11" name="Text 9"/>
          <p:cNvSpPr/>
          <p:nvPr/>
        </p:nvSpPr>
        <p:spPr>
          <a:xfrm>
            <a:off x="4572000" y="2084832"/>
            <a:ext cx="4297680" cy="347472"/>
          </a:xfrm>
          <a:prstGeom prst="rect">
            <a:avLst/>
          </a:prstGeom>
          <a:noFill/>
          <a:ln/>
        </p:spPr>
        <p:txBody>
          <a:bodyPr wrap="square" lIns="0" tIns="0" rIns="0" bIns="0" rtlCol="0" anchor="ctr"/>
          <a:lstStyle/>
          <a:p>
            <a:pPr marL="0" indent="0">
              <a:buNone/>
            </a:pPr>
            <a:r>
              <a:rPr lang="en-US" sz="1500" b="1" dirty="0">
                <a:solidFill>
                  <a:srgbClr val="007A73"/>
                </a:solidFill>
                <a:latin typeface="Calibri" pitchFamily="34" charset="0"/>
                <a:ea typeface="Calibri" pitchFamily="34" charset="-122"/>
                <a:cs typeface="Calibri" pitchFamily="34" charset="-120"/>
              </a:rPr>
              <a:t>Dataset Used</a:t>
            </a:r>
            <a:endParaRPr lang="en-US" sz="1500" dirty="0"/>
          </a:p>
        </p:txBody>
      </p:sp>
      <p:sp>
        <p:nvSpPr>
          <p:cNvPr id="12" name="Shape 10"/>
          <p:cNvSpPr/>
          <p:nvPr/>
        </p:nvSpPr>
        <p:spPr>
          <a:xfrm>
            <a:off x="4572000" y="2450592"/>
            <a:ext cx="4297680" cy="1024128"/>
          </a:xfrm>
          <a:prstGeom prst="roundRect">
            <a:avLst>
              <a:gd name="adj" fmla="val 7143"/>
            </a:avLst>
          </a:prstGeom>
          <a:solidFill>
            <a:srgbClr val="E6F3F2"/>
          </a:solidFill>
          <a:ln w="6350">
            <a:solidFill>
              <a:srgbClr val="007A73"/>
            </a:solidFill>
            <a:prstDash val="solid"/>
          </a:ln>
        </p:spPr>
        <p:txBody>
          <a:bodyPr/>
          <a:lstStyle/>
          <a:p>
            <a:endParaRPr lang="en-US"/>
          </a:p>
        </p:txBody>
      </p:sp>
      <p:sp>
        <p:nvSpPr>
          <p:cNvPr id="13" name="Text 11"/>
          <p:cNvSpPr/>
          <p:nvPr/>
        </p:nvSpPr>
        <p:spPr>
          <a:xfrm>
            <a:off x="4709160" y="2542032"/>
            <a:ext cx="4023360" cy="868680"/>
          </a:xfrm>
          <a:prstGeom prst="rect">
            <a:avLst/>
          </a:prstGeom>
          <a:noFill/>
          <a:ln/>
        </p:spPr>
        <p:txBody>
          <a:bodyPr wrap="square" lIns="0" tIns="0" rIns="0" bIns="0" rtlCol="0" anchor="t"/>
          <a:lstStyle/>
          <a:p>
            <a:pPr marL="0" indent="0" algn="l">
              <a:buNone/>
            </a:pPr>
            <a:r>
              <a:rPr lang="en-US" sz="1150" dirty="0">
                <a:solidFill>
                  <a:srgbClr val="3D4F5C"/>
                </a:solidFill>
                <a:latin typeface="Calibri" pitchFamily="34" charset="0"/>
                <a:ea typeface="Calibri" pitchFamily="34" charset="-122"/>
                <a:cs typeface="Calibri" pitchFamily="34" charset="-120"/>
              </a:rPr>
              <a:t>BraTS 2020 (Brain Tumor Segmentation) — 369 patient brain MRI volumes in HDF5 format. Each volume contains 4 MRI sequences (FLAIR, T1, T1ce, T2) and expert-labelled tumor masks with 3 regions: necrotic core, edema, and enhancing tumor.</a:t>
            </a:r>
            <a:endParaRPr lang="en-US" sz="1150" dirty="0"/>
          </a:p>
        </p:txBody>
      </p:sp>
      <p:sp>
        <p:nvSpPr>
          <p:cNvPr id="14" name="Text 12"/>
          <p:cNvSpPr/>
          <p:nvPr/>
        </p:nvSpPr>
        <p:spPr>
          <a:xfrm>
            <a:off x="4572000" y="3639312"/>
            <a:ext cx="4297680" cy="347472"/>
          </a:xfrm>
          <a:prstGeom prst="rect">
            <a:avLst/>
          </a:prstGeom>
          <a:noFill/>
          <a:ln/>
        </p:spPr>
        <p:txBody>
          <a:bodyPr wrap="square" lIns="0" tIns="0" rIns="0" bIns="0" rtlCol="0" anchor="ctr"/>
          <a:lstStyle/>
          <a:p>
            <a:pPr marL="0" indent="0">
              <a:buNone/>
            </a:pPr>
            <a:r>
              <a:rPr lang="en-US" sz="1500" b="1" dirty="0">
                <a:solidFill>
                  <a:srgbClr val="007A73"/>
                </a:solidFill>
                <a:latin typeface="Calibri" pitchFamily="34" charset="0"/>
                <a:ea typeface="Calibri" pitchFamily="34" charset="-122"/>
                <a:cs typeface="Calibri" pitchFamily="34" charset="-120"/>
              </a:rPr>
              <a:t>Why We Built This</a:t>
            </a:r>
            <a:endParaRPr lang="en-US" sz="1500" dirty="0"/>
          </a:p>
        </p:txBody>
      </p:sp>
      <p:sp>
        <p:nvSpPr>
          <p:cNvPr id="15" name="Shape 13"/>
          <p:cNvSpPr/>
          <p:nvPr/>
        </p:nvSpPr>
        <p:spPr>
          <a:xfrm>
            <a:off x="4572000" y="4005072"/>
            <a:ext cx="4297680" cy="914400"/>
          </a:xfrm>
          <a:prstGeom prst="roundRect">
            <a:avLst>
              <a:gd name="adj" fmla="val 8000"/>
            </a:avLst>
          </a:prstGeom>
          <a:solidFill>
            <a:srgbClr val="E6F3F2"/>
          </a:solidFill>
          <a:ln w="6350">
            <a:solidFill>
              <a:srgbClr val="007A73"/>
            </a:solidFill>
            <a:prstDash val="solid"/>
          </a:ln>
        </p:spPr>
        <p:txBody>
          <a:bodyPr/>
          <a:lstStyle/>
          <a:p>
            <a:endParaRPr lang="en-US"/>
          </a:p>
        </p:txBody>
      </p:sp>
      <p:sp>
        <p:nvSpPr>
          <p:cNvPr id="16" name="Text 14"/>
          <p:cNvSpPr/>
          <p:nvPr/>
        </p:nvSpPr>
        <p:spPr>
          <a:xfrm>
            <a:off x="4709160" y="4078224"/>
            <a:ext cx="4023360" cy="786384"/>
          </a:xfrm>
          <a:prstGeom prst="rect">
            <a:avLst/>
          </a:prstGeom>
          <a:noFill/>
          <a:ln/>
        </p:spPr>
        <p:txBody>
          <a:bodyPr wrap="square" lIns="0" tIns="0" rIns="0" bIns="0" rtlCol="0" anchor="t"/>
          <a:lstStyle/>
          <a:p>
            <a:pPr marL="0" indent="0" algn="l">
              <a:buNone/>
            </a:pPr>
            <a:r>
              <a:rPr lang="en-US" sz="1150" dirty="0">
                <a:solidFill>
                  <a:srgbClr val="3D4F5C"/>
                </a:solidFill>
                <a:latin typeface="Calibri" pitchFamily="34" charset="0"/>
                <a:ea typeface="Calibri" pitchFamily="34" charset="-122"/>
                <a:cs typeface="Calibri" pitchFamily="34" charset="-120"/>
              </a:rPr>
              <a:t>Radiologists face high workloads and report turnaround delays. This system demonstrates how AI can assist by producing a first-draft report from raw MRI images — reducing manual effort while keeping the radiologist in control for final verification.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475488"/>
          </a:xfrm>
          <a:prstGeom prst="rect">
            <a:avLst/>
          </a:prstGeom>
          <a:noFill/>
          <a:ln/>
        </p:spPr>
        <p:txBody>
          <a:bodyPr wrap="square" lIns="0" tIns="0" rIns="0" bIns="0" rtlCol="0" anchor="ctr"/>
          <a:lstStyle/>
          <a:p>
            <a:pPr marL="0" indent="0">
              <a:buNone/>
            </a:pPr>
            <a:r>
              <a:rPr lang="en-US" sz="2200" b="1" dirty="0">
                <a:solidFill>
                  <a:srgbClr val="0D1B2A"/>
                </a:solidFill>
                <a:latin typeface="Calibri" pitchFamily="34" charset="0"/>
                <a:ea typeface="Calibri" pitchFamily="34" charset="-122"/>
                <a:cs typeface="Calibri" pitchFamily="34" charset="-120"/>
              </a:rPr>
              <a:t>MRI Visualisation — Volume 115  (Glioblastoma WHO Grade 4)</a:t>
            </a:r>
            <a:endParaRPr lang="en-US" sz="2200" dirty="0"/>
          </a:p>
        </p:txBody>
      </p:sp>
      <p:sp>
        <p:nvSpPr>
          <p:cNvPr id="3" name="Text 1"/>
          <p:cNvSpPr/>
          <p:nvPr/>
        </p:nvSpPr>
        <p:spPr>
          <a:xfrm>
            <a:off x="365760" y="658368"/>
            <a:ext cx="8412480" cy="274320"/>
          </a:xfrm>
          <a:prstGeom prst="rect">
            <a:avLst/>
          </a:prstGeom>
          <a:noFill/>
          <a:ln/>
        </p:spPr>
        <p:txBody>
          <a:bodyPr wrap="square" lIns="0" tIns="0" rIns="0" bIns="0" rtlCol="0" anchor="ctr"/>
          <a:lstStyle/>
          <a:p>
            <a:pPr marL="0" indent="0">
              <a:buNone/>
            </a:pPr>
            <a:r>
              <a:rPr lang="en-US" sz="1200" dirty="0">
                <a:solidFill>
                  <a:srgbClr val="7A8C99"/>
                </a:solidFill>
                <a:latin typeface="Calibri" pitchFamily="34" charset="0"/>
                <a:ea typeface="Calibri" pitchFamily="34" charset="-122"/>
                <a:cs typeface="Calibri" pitchFamily="34" charset="-120"/>
              </a:rPr>
              <a:t>Three views generated by the pipeline for every patient case</a:t>
            </a:r>
            <a:endParaRPr lang="en-US" sz="1200" dirty="0"/>
          </a:p>
        </p:txBody>
      </p:sp>
      <p:sp>
        <p:nvSpPr>
          <p:cNvPr id="4" name="Shape 2"/>
          <p:cNvSpPr/>
          <p:nvPr/>
        </p:nvSpPr>
        <p:spPr>
          <a:xfrm>
            <a:off x="274320" y="1005840"/>
            <a:ext cx="2560320" cy="3840480"/>
          </a:xfrm>
          <a:prstGeom prst="roundRect">
            <a:avLst>
              <a:gd name="adj" fmla="val 3571"/>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411480" y="1115568"/>
            <a:ext cx="1371600" cy="274320"/>
          </a:xfrm>
          <a:prstGeom prst="roundRect">
            <a:avLst>
              <a:gd name="adj" fmla="val 16667"/>
            </a:avLst>
          </a:prstGeom>
          <a:solidFill>
            <a:srgbClr val="007A73"/>
          </a:solidFill>
          <a:ln w="12700">
            <a:solidFill>
              <a:srgbClr val="007A73"/>
            </a:solidFill>
            <a:prstDash val="solid"/>
          </a:ln>
        </p:spPr>
        <p:txBody>
          <a:bodyPr/>
          <a:lstStyle/>
          <a:p>
            <a:endParaRPr lang="en-US"/>
          </a:p>
        </p:txBody>
      </p:sp>
      <p:sp>
        <p:nvSpPr>
          <p:cNvPr id="6" name="Text 4"/>
          <p:cNvSpPr/>
          <p:nvPr/>
        </p:nvSpPr>
        <p:spPr>
          <a:xfrm>
            <a:off x="411480" y="1115568"/>
            <a:ext cx="13716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FLAIR Slice</a:t>
            </a:r>
            <a:endParaRPr lang="en-US" sz="900" dirty="0"/>
          </a:p>
        </p:txBody>
      </p:sp>
      <p:pic>
        <p:nvPicPr>
          <p:cNvPr id="7" name="Image 0" descr="preencoded.png"/>
          <p:cNvPicPr>
            <a:picLocks noChangeAspect="1"/>
          </p:cNvPicPr>
          <p:nvPr/>
        </p:nvPicPr>
        <p:blipFill>
          <a:blip r:embed="rId3"/>
          <a:srcRect/>
          <a:stretch/>
        </p:blipFill>
        <p:spPr>
          <a:xfrm>
            <a:off x="594360" y="1463040"/>
            <a:ext cx="1920240" cy="1920240"/>
          </a:xfrm>
          <a:prstGeom prst="rect">
            <a:avLst/>
          </a:prstGeom>
        </p:spPr>
      </p:pic>
      <p:sp>
        <p:nvSpPr>
          <p:cNvPr id="8" name="Text 5"/>
          <p:cNvSpPr/>
          <p:nvPr/>
        </p:nvSpPr>
        <p:spPr>
          <a:xfrm>
            <a:off x="384048" y="3429000"/>
            <a:ext cx="2359152" cy="1325880"/>
          </a:xfrm>
          <a:prstGeom prst="rect">
            <a:avLst/>
          </a:prstGeom>
          <a:noFill/>
          <a:ln/>
        </p:spPr>
        <p:txBody>
          <a:bodyPr wrap="square" lIns="50800" tIns="50800" rIns="50800" bIns="50800" rtlCol="0" anchor="t"/>
          <a:lstStyle/>
          <a:p>
            <a:pPr marL="0" indent="0">
              <a:buNone/>
            </a:pPr>
            <a:r>
              <a:rPr lang="en-US" sz="1000" b="1" dirty="0">
                <a:solidFill>
                  <a:srgbClr val="007A73"/>
                </a:solidFill>
                <a:latin typeface="Calibri" pitchFamily="34" charset="0"/>
                <a:ea typeface="Calibri" pitchFamily="34" charset="-122"/>
                <a:cs typeface="Calibri" pitchFamily="34" charset="-120"/>
              </a:rPr>
              <a:t>What it shows:
</a:t>
            </a:r>
            <a:r>
              <a:rPr lang="en-US" sz="1000" dirty="0">
                <a:solidFill>
                  <a:srgbClr val="3D4F5C"/>
                </a:solidFill>
                <a:latin typeface="Calibri" pitchFamily="34" charset="0"/>
                <a:ea typeface="Calibri" pitchFamily="34" charset="-122"/>
                <a:cs typeface="Calibri" pitchFamily="34" charset="-120"/>
              </a:rPr>
              <a:t>Single FLAIR sequence slice. The bright ring-shaped region in the right frontoparietal area is the tumor. FLAIR suppresses CSF signal, making abnormalities highly visible as bright (hyperintense) regions. This is the primary sequence used for initial lesion detection.</a:t>
            </a:r>
            <a:endParaRPr lang="en-US" sz="1000" dirty="0"/>
          </a:p>
        </p:txBody>
      </p:sp>
      <p:sp>
        <p:nvSpPr>
          <p:cNvPr id="9" name="Shape 6"/>
          <p:cNvSpPr/>
          <p:nvPr/>
        </p:nvSpPr>
        <p:spPr>
          <a:xfrm>
            <a:off x="3108960" y="1005840"/>
            <a:ext cx="3017520" cy="3840480"/>
          </a:xfrm>
          <a:prstGeom prst="roundRect">
            <a:avLst>
              <a:gd name="adj" fmla="val 3030"/>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10" name="Shape 7"/>
          <p:cNvSpPr/>
          <p:nvPr/>
        </p:nvSpPr>
        <p:spPr>
          <a:xfrm>
            <a:off x="3246120" y="1115568"/>
            <a:ext cx="1920240" cy="274320"/>
          </a:xfrm>
          <a:prstGeom prst="roundRect">
            <a:avLst>
              <a:gd name="adj" fmla="val 16667"/>
            </a:avLst>
          </a:prstGeom>
          <a:solidFill>
            <a:srgbClr val="007A73"/>
          </a:solidFill>
          <a:ln w="12700">
            <a:solidFill>
              <a:srgbClr val="007A73"/>
            </a:solidFill>
            <a:prstDash val="solid"/>
          </a:ln>
        </p:spPr>
        <p:txBody>
          <a:bodyPr/>
          <a:lstStyle/>
          <a:p>
            <a:endParaRPr lang="en-US"/>
          </a:p>
        </p:txBody>
      </p:sp>
      <p:sp>
        <p:nvSpPr>
          <p:cNvPr id="11" name="Text 8"/>
          <p:cNvSpPr/>
          <p:nvPr/>
        </p:nvSpPr>
        <p:spPr>
          <a:xfrm>
            <a:off x="3246120" y="1115568"/>
            <a:ext cx="19202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All 4 Sequences</a:t>
            </a:r>
            <a:endParaRPr lang="en-US" sz="900" dirty="0"/>
          </a:p>
        </p:txBody>
      </p:sp>
      <p:pic>
        <p:nvPicPr>
          <p:cNvPr id="12" name="Image 1" descr="preencoded.png"/>
          <p:cNvPicPr>
            <a:picLocks noChangeAspect="1"/>
          </p:cNvPicPr>
          <p:nvPr/>
        </p:nvPicPr>
        <p:blipFill>
          <a:blip r:embed="rId4"/>
          <a:srcRect/>
          <a:stretch/>
        </p:blipFill>
        <p:spPr>
          <a:xfrm>
            <a:off x="3200400" y="1463040"/>
            <a:ext cx="2834640" cy="758952"/>
          </a:xfrm>
          <a:prstGeom prst="rect">
            <a:avLst/>
          </a:prstGeom>
        </p:spPr>
      </p:pic>
      <p:sp>
        <p:nvSpPr>
          <p:cNvPr id="13" name="Text 9"/>
          <p:cNvSpPr/>
          <p:nvPr/>
        </p:nvSpPr>
        <p:spPr>
          <a:xfrm>
            <a:off x="3218688" y="2286000"/>
            <a:ext cx="2798064" cy="2468880"/>
          </a:xfrm>
          <a:prstGeom prst="rect">
            <a:avLst/>
          </a:prstGeom>
          <a:noFill/>
          <a:ln/>
        </p:spPr>
        <p:txBody>
          <a:bodyPr wrap="square" lIns="50800" tIns="50800" rIns="50800" bIns="50800" rtlCol="0" anchor="t"/>
          <a:lstStyle/>
          <a:p>
            <a:pPr marL="0" indent="0">
              <a:buNone/>
            </a:pPr>
            <a:r>
              <a:rPr lang="en-US" sz="1000" b="1" dirty="0">
                <a:solidFill>
                  <a:srgbClr val="007A73"/>
                </a:solidFill>
                <a:latin typeface="Calibri" pitchFamily="34" charset="0"/>
                <a:ea typeface="Calibri" pitchFamily="34" charset="-122"/>
                <a:cs typeface="Calibri" pitchFamily="34" charset="-120"/>
              </a:rPr>
              <a:t>What it shows:
</a:t>
            </a:r>
            <a:r>
              <a:rPr lang="en-US" sz="1000" dirty="0">
                <a:solidFill>
                  <a:srgbClr val="3D4F5C"/>
                </a:solidFill>
                <a:latin typeface="Calibri" pitchFamily="34" charset="0"/>
                <a:ea typeface="Calibri" pitchFamily="34" charset="-122"/>
                <a:cs typeface="Calibri" pitchFamily="34" charset="-120"/>
              </a:rPr>
              <a:t>Side-by-side view of all 4 MRI sequences for the same slice. </a:t>
            </a:r>
            <a:r>
              <a:rPr lang="en-US" sz="1000" b="1" dirty="0">
                <a:solidFill>
                  <a:srgbClr val="3D4F5C"/>
                </a:solidFill>
                <a:latin typeface="Calibri" pitchFamily="34" charset="0"/>
                <a:ea typeface="Calibri" pitchFamily="34" charset="-122"/>
                <a:cs typeface="Calibri" pitchFamily="34" charset="-120"/>
              </a:rPr>
              <a:t>FLAIR</a:t>
            </a:r>
            <a:r>
              <a:rPr lang="en-US" sz="1000" dirty="0">
                <a:solidFill>
                  <a:srgbClr val="3D4F5C"/>
                </a:solidFill>
                <a:latin typeface="Calibri" pitchFamily="34" charset="0"/>
                <a:ea typeface="Calibri" pitchFamily="34" charset="-122"/>
                <a:cs typeface="Calibri" pitchFamily="34" charset="-120"/>
              </a:rPr>
              <a:t>  tumor edema bright. </a:t>
            </a:r>
            <a:r>
              <a:rPr lang="en-US" sz="1000" b="1" dirty="0">
                <a:solidFill>
                  <a:srgbClr val="3D4F5C"/>
                </a:solidFill>
                <a:latin typeface="Calibri" pitchFamily="34" charset="0"/>
                <a:ea typeface="Calibri" pitchFamily="34" charset="-122"/>
                <a:cs typeface="Calibri" pitchFamily="34" charset="-120"/>
              </a:rPr>
              <a:t>T1</a:t>
            </a:r>
            <a:r>
              <a:rPr lang="en-US" sz="1000" dirty="0">
                <a:solidFill>
                  <a:srgbClr val="3D4F5C"/>
                </a:solidFill>
                <a:latin typeface="Calibri" pitchFamily="34" charset="0"/>
                <a:ea typeface="Calibri" pitchFamily="34" charset="-122"/>
                <a:cs typeface="Calibri" pitchFamily="34" charset="-120"/>
              </a:rPr>
              <a:t>  anatomy reference. </a:t>
            </a:r>
            <a:r>
              <a:rPr lang="en-US" sz="1000" b="1" dirty="0">
                <a:solidFill>
                  <a:srgbClr val="3D4F5C"/>
                </a:solidFill>
                <a:latin typeface="Calibri" pitchFamily="34" charset="0"/>
                <a:ea typeface="Calibri" pitchFamily="34" charset="-122"/>
                <a:cs typeface="Calibri" pitchFamily="34" charset="-120"/>
              </a:rPr>
              <a:t>T1ce</a:t>
            </a:r>
            <a:r>
              <a:rPr lang="en-US" sz="1000" dirty="0">
                <a:solidFill>
                  <a:srgbClr val="3D4F5C"/>
                </a:solidFill>
                <a:latin typeface="Calibri" pitchFamily="34" charset="0"/>
                <a:ea typeface="Calibri" pitchFamily="34" charset="-122"/>
                <a:cs typeface="Calibri" pitchFamily="34" charset="-120"/>
              </a:rPr>
              <a:t> ring enhancement confirms active tumor / blood-brain barrier breakdown. </a:t>
            </a:r>
            <a:r>
              <a:rPr lang="en-US" sz="1000" b="1" dirty="0">
                <a:solidFill>
                  <a:srgbClr val="3D4F5C"/>
                </a:solidFill>
                <a:latin typeface="Calibri" pitchFamily="34" charset="0"/>
                <a:ea typeface="Calibri" pitchFamily="34" charset="-122"/>
                <a:cs typeface="Calibri" pitchFamily="34" charset="-120"/>
              </a:rPr>
              <a:t>T2</a:t>
            </a:r>
            <a:r>
              <a:rPr lang="en-US" sz="1000" dirty="0">
                <a:solidFill>
                  <a:srgbClr val="3D4F5C"/>
                </a:solidFill>
                <a:latin typeface="Calibri" pitchFamily="34" charset="0"/>
                <a:ea typeface="Calibri" pitchFamily="34" charset="-122"/>
                <a:cs typeface="Calibri" pitchFamily="34" charset="-120"/>
              </a:rPr>
              <a:t>  edema extent. Sending all 4 to Claude gives a far richer diagnostic context than FLAIR alone.</a:t>
            </a:r>
            <a:endParaRPr lang="en-US" sz="1000" dirty="0"/>
          </a:p>
        </p:txBody>
      </p:sp>
      <p:sp>
        <p:nvSpPr>
          <p:cNvPr id="14" name="Shape 10"/>
          <p:cNvSpPr/>
          <p:nvPr/>
        </p:nvSpPr>
        <p:spPr>
          <a:xfrm>
            <a:off x="6400800" y="1005840"/>
            <a:ext cx="2468880" cy="3840480"/>
          </a:xfrm>
          <a:prstGeom prst="roundRect">
            <a:avLst>
              <a:gd name="adj" fmla="val 3704"/>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15" name="Shape 11"/>
          <p:cNvSpPr/>
          <p:nvPr/>
        </p:nvSpPr>
        <p:spPr>
          <a:xfrm>
            <a:off x="6537960" y="1115568"/>
            <a:ext cx="1737360" cy="274320"/>
          </a:xfrm>
          <a:prstGeom prst="roundRect">
            <a:avLst>
              <a:gd name="adj" fmla="val 16667"/>
            </a:avLst>
          </a:prstGeom>
          <a:solidFill>
            <a:srgbClr val="007A73"/>
          </a:solidFill>
          <a:ln w="12700">
            <a:solidFill>
              <a:srgbClr val="007A73"/>
            </a:solidFill>
            <a:prstDash val="solid"/>
          </a:ln>
        </p:spPr>
        <p:txBody>
          <a:bodyPr/>
          <a:lstStyle/>
          <a:p>
            <a:endParaRPr lang="en-US"/>
          </a:p>
        </p:txBody>
      </p:sp>
      <p:sp>
        <p:nvSpPr>
          <p:cNvPr id="16" name="Text 12"/>
          <p:cNvSpPr/>
          <p:nvPr/>
        </p:nvSpPr>
        <p:spPr>
          <a:xfrm>
            <a:off x="6537960" y="1115568"/>
            <a:ext cx="17373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GT Tumor Overlay</a:t>
            </a:r>
            <a:endParaRPr lang="en-US" sz="900" dirty="0"/>
          </a:p>
        </p:txBody>
      </p:sp>
      <p:pic>
        <p:nvPicPr>
          <p:cNvPr id="17" name="Image 2" descr="preencoded.png"/>
          <p:cNvPicPr>
            <a:picLocks noChangeAspect="1"/>
          </p:cNvPicPr>
          <p:nvPr/>
        </p:nvPicPr>
        <p:blipFill>
          <a:blip r:embed="rId5"/>
          <a:srcRect/>
          <a:stretch/>
        </p:blipFill>
        <p:spPr>
          <a:xfrm>
            <a:off x="6583680" y="1463040"/>
            <a:ext cx="1920240" cy="1920240"/>
          </a:xfrm>
          <a:prstGeom prst="rect">
            <a:avLst/>
          </a:prstGeom>
        </p:spPr>
      </p:pic>
      <p:sp>
        <p:nvSpPr>
          <p:cNvPr id="18" name="Text 13"/>
          <p:cNvSpPr/>
          <p:nvPr/>
        </p:nvSpPr>
        <p:spPr>
          <a:xfrm>
            <a:off x="6473952" y="3429000"/>
            <a:ext cx="2304288" cy="1325880"/>
          </a:xfrm>
          <a:prstGeom prst="rect">
            <a:avLst/>
          </a:prstGeom>
          <a:noFill/>
          <a:ln/>
        </p:spPr>
        <p:txBody>
          <a:bodyPr wrap="square" lIns="50800" tIns="50800" rIns="50800" bIns="50800" rtlCol="0" anchor="t"/>
          <a:lstStyle/>
          <a:p>
            <a:pPr marL="0" indent="0">
              <a:buNone/>
            </a:pPr>
            <a:r>
              <a:rPr lang="en-US" sz="1000" b="1" dirty="0">
                <a:solidFill>
                  <a:srgbClr val="007A73"/>
                </a:solidFill>
                <a:latin typeface="Calibri" pitchFamily="34" charset="0"/>
                <a:ea typeface="Calibri" pitchFamily="34" charset="-122"/>
                <a:cs typeface="Calibri" pitchFamily="34" charset="-120"/>
              </a:rPr>
              <a:t>What it shows:
</a:t>
            </a:r>
            <a:r>
              <a:rPr lang="en-US" sz="1000" dirty="0">
                <a:solidFill>
                  <a:srgbClr val="3D4F5C"/>
                </a:solidFill>
                <a:latin typeface="Calibri" pitchFamily="34" charset="0"/>
                <a:ea typeface="Calibri" pitchFamily="34" charset="-122"/>
                <a:cs typeface="Calibri" pitchFamily="34" charset="-120"/>
              </a:rPr>
              <a:t>Ground truth tumor mask overlaid on the FLAIR image in colour:
</a:t>
            </a:r>
            <a:r>
              <a:rPr lang="en-US" sz="1000" b="1" dirty="0">
                <a:solidFill>
                  <a:srgbClr val="CC2200"/>
                </a:solidFill>
                <a:latin typeface="Calibri" pitchFamily="34" charset="0"/>
                <a:ea typeface="Calibri" pitchFamily="34" charset="-122"/>
                <a:cs typeface="Calibri" pitchFamily="34" charset="-120"/>
              </a:rPr>
              <a:t>■ Red</a:t>
            </a:r>
            <a:r>
              <a:rPr lang="en-US" sz="1000" dirty="0">
                <a:solidFill>
                  <a:srgbClr val="3D4F5C"/>
                </a:solidFill>
                <a:latin typeface="Calibri" pitchFamily="34" charset="0"/>
                <a:ea typeface="Calibri" pitchFamily="34" charset="-122"/>
                <a:cs typeface="Calibri" pitchFamily="34" charset="-120"/>
              </a:rPr>
              <a:t> — necrotic core
</a:t>
            </a:r>
            <a:r>
              <a:rPr lang="en-US" sz="1000" b="1" dirty="0">
                <a:solidFill>
                  <a:srgbClr val="CC7700"/>
                </a:solidFill>
                <a:latin typeface="Calibri" pitchFamily="34" charset="0"/>
                <a:ea typeface="Calibri" pitchFamily="34" charset="-122"/>
                <a:cs typeface="Calibri" pitchFamily="34" charset="-120"/>
              </a:rPr>
              <a:t>■ Yellow/Orange</a:t>
            </a:r>
            <a:r>
              <a:rPr lang="en-US" sz="1000" dirty="0">
                <a:solidFill>
                  <a:srgbClr val="3D4F5C"/>
                </a:solidFill>
                <a:latin typeface="Calibri" pitchFamily="34" charset="0"/>
                <a:ea typeface="Calibri" pitchFamily="34" charset="-122"/>
                <a:cs typeface="Calibri" pitchFamily="34" charset="-120"/>
              </a:rPr>
              <a:t> — peritumoral edema
</a:t>
            </a:r>
            <a:r>
              <a:rPr lang="en-US" sz="1000" b="1" dirty="0">
                <a:solidFill>
                  <a:srgbClr val="007700"/>
                </a:solidFill>
                <a:latin typeface="Calibri" pitchFamily="34" charset="0"/>
                <a:ea typeface="Calibri" pitchFamily="34" charset="-122"/>
                <a:cs typeface="Calibri" pitchFamily="34" charset="-120"/>
              </a:rPr>
              <a:t>■ Green</a:t>
            </a:r>
            <a:r>
              <a:rPr lang="en-US" sz="1000" dirty="0">
                <a:solidFill>
                  <a:srgbClr val="3D4F5C"/>
                </a:solidFill>
                <a:latin typeface="Calibri" pitchFamily="34" charset="0"/>
                <a:ea typeface="Calibri" pitchFamily="34" charset="-122"/>
                <a:cs typeface="Calibri" pitchFamily="34" charset="-120"/>
              </a:rPr>
              <a:t> — enhancing tumor</a:t>
            </a:r>
            <a:endParaRPr lang="en-US" sz="1000" dirty="0"/>
          </a:p>
          <a:p>
            <a:pPr marL="0" indent="0">
              <a:buNone/>
            </a:pPr>
            <a:r>
              <a:rPr lang="en-US" sz="1000" dirty="0">
                <a:solidFill>
                  <a:srgbClr val="3D4F5C"/>
                </a:solidFill>
                <a:latin typeface="Calibri" pitchFamily="34" charset="0"/>
                <a:ea typeface="Calibri" pitchFamily="34" charset="-122"/>
                <a:cs typeface="Calibri" pitchFamily="34" charset="-120"/>
              </a:rPr>
              <a:t>Used to verify AI predictions against expert labels.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475488"/>
          </a:xfrm>
          <a:prstGeom prst="rect">
            <a:avLst/>
          </a:prstGeom>
          <a:noFill/>
          <a:ln/>
        </p:spPr>
        <p:txBody>
          <a:bodyPr wrap="square" lIns="0" tIns="0" rIns="0" bIns="0" rtlCol="0" anchor="ctr"/>
          <a:lstStyle/>
          <a:p>
            <a:pPr marL="0" indent="0">
              <a:buNone/>
            </a:pPr>
            <a:r>
              <a:rPr lang="en-US" sz="2200" b="1" dirty="0">
                <a:solidFill>
                  <a:srgbClr val="0D1B2A"/>
                </a:solidFill>
                <a:latin typeface="Calibri" pitchFamily="34" charset="0"/>
                <a:ea typeface="Calibri" pitchFamily="34" charset="-122"/>
                <a:cs typeface="Calibri" pitchFamily="34" charset="-120"/>
              </a:rPr>
              <a:t>Results &amp; Evaluation</a:t>
            </a:r>
            <a:endParaRPr lang="en-US" sz="2200" dirty="0"/>
          </a:p>
        </p:txBody>
      </p:sp>
      <p:sp>
        <p:nvSpPr>
          <p:cNvPr id="3" name="Text 1"/>
          <p:cNvSpPr/>
          <p:nvPr/>
        </p:nvSpPr>
        <p:spPr>
          <a:xfrm>
            <a:off x="365760" y="658368"/>
            <a:ext cx="8412480" cy="274320"/>
          </a:xfrm>
          <a:prstGeom prst="rect">
            <a:avLst/>
          </a:prstGeom>
          <a:noFill/>
          <a:ln/>
        </p:spPr>
        <p:txBody>
          <a:bodyPr wrap="square" lIns="0" tIns="0" rIns="0" bIns="0" rtlCol="0" anchor="ctr"/>
          <a:lstStyle/>
          <a:p>
            <a:pPr marL="0" indent="0">
              <a:buNone/>
            </a:pPr>
            <a:r>
              <a:rPr lang="en-US" sz="1200" dirty="0">
                <a:solidFill>
                  <a:srgbClr val="7A8C99"/>
                </a:solidFill>
                <a:latin typeface="Calibri" pitchFamily="34" charset="0"/>
                <a:ea typeface="Calibri" pitchFamily="34" charset="-122"/>
                <a:cs typeface="Calibri" pitchFamily="34" charset="-120"/>
              </a:rPr>
              <a:t>20 patient volumes  ·  BraTS 2020  ·  All 4 MRI sequences  ·  Compared against rule-based baseline</a:t>
            </a:r>
            <a:endParaRPr lang="en-US" sz="1200" dirty="0"/>
          </a:p>
        </p:txBody>
      </p:sp>
      <p:graphicFrame>
        <p:nvGraphicFramePr>
          <p:cNvPr id="4" name="Chart 0"/>
          <p:cNvGraphicFramePr/>
          <p:nvPr/>
        </p:nvGraphicFramePr>
        <p:xfrm>
          <a:off x="320040" y="960120"/>
          <a:ext cx="50292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960120"/>
            <a:ext cx="3246120" cy="749808"/>
          </a:xfrm>
          <a:prstGeom prst="roundRect">
            <a:avLst>
              <a:gd name="adj" fmla="val 9756"/>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6" name="Text 3"/>
          <p:cNvSpPr/>
          <p:nvPr/>
        </p:nvSpPr>
        <p:spPr>
          <a:xfrm>
            <a:off x="5623560" y="1005840"/>
            <a:ext cx="914400" cy="658368"/>
          </a:xfrm>
          <a:prstGeom prst="rect">
            <a:avLst/>
          </a:prstGeom>
          <a:noFill/>
          <a:ln/>
        </p:spPr>
        <p:txBody>
          <a:bodyPr wrap="square" lIns="0" tIns="0" rIns="0" bIns="0" rtlCol="0" anchor="ctr"/>
          <a:lstStyle/>
          <a:p>
            <a:pPr marL="0" indent="0" algn="ctr">
              <a:buNone/>
            </a:pPr>
            <a:r>
              <a:rPr lang="en-US" sz="2800" b="1" dirty="0">
                <a:solidFill>
                  <a:srgbClr val="007A73"/>
                </a:solidFill>
                <a:latin typeface="Calibri" pitchFamily="34" charset="0"/>
                <a:ea typeface="Calibri" pitchFamily="34" charset="-122"/>
                <a:cs typeface="Calibri" pitchFamily="34" charset="-120"/>
              </a:rPr>
              <a:t>95%</a:t>
            </a:r>
            <a:endParaRPr lang="en-US" sz="2800" dirty="0"/>
          </a:p>
        </p:txBody>
      </p:sp>
      <p:sp>
        <p:nvSpPr>
          <p:cNvPr id="7" name="Text 4"/>
          <p:cNvSpPr/>
          <p:nvPr/>
        </p:nvSpPr>
        <p:spPr>
          <a:xfrm>
            <a:off x="6583680" y="1014984"/>
            <a:ext cx="2148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Accuracy</a:t>
            </a:r>
            <a:endParaRPr lang="en-US" sz="1300" dirty="0"/>
          </a:p>
        </p:txBody>
      </p:sp>
      <p:sp>
        <p:nvSpPr>
          <p:cNvPr id="8" name="Text 5"/>
          <p:cNvSpPr/>
          <p:nvPr/>
        </p:nvSpPr>
        <p:spPr>
          <a:xfrm>
            <a:off x="6583680" y="1307592"/>
            <a:ext cx="2148840" cy="274320"/>
          </a:xfrm>
          <a:prstGeom prst="rect">
            <a:avLst/>
          </a:prstGeom>
          <a:noFill/>
          <a:ln/>
        </p:spPr>
        <p:txBody>
          <a:bodyPr wrap="square" lIns="0" tIns="0" rIns="0" bIns="0" rtlCol="0" anchor="ctr"/>
          <a:lstStyle/>
          <a:p>
            <a:pPr marL="0" indent="0">
              <a:buNone/>
            </a:pPr>
            <a:r>
              <a:rPr lang="en-US" sz="1100" dirty="0">
                <a:solidFill>
                  <a:srgbClr val="7A8C99"/>
                </a:solidFill>
                <a:latin typeface="Calibri" pitchFamily="34" charset="0"/>
                <a:ea typeface="Calibri" pitchFamily="34" charset="-122"/>
                <a:cs typeface="Calibri" pitchFamily="34" charset="-120"/>
              </a:rPr>
              <a:t>Baseline: 0%</a:t>
            </a:r>
            <a:endParaRPr lang="en-US" sz="1100" dirty="0"/>
          </a:p>
        </p:txBody>
      </p:sp>
      <p:sp>
        <p:nvSpPr>
          <p:cNvPr id="9" name="Shape 6"/>
          <p:cNvSpPr/>
          <p:nvPr/>
        </p:nvSpPr>
        <p:spPr>
          <a:xfrm>
            <a:off x="5577840" y="1810512"/>
            <a:ext cx="3246120" cy="749808"/>
          </a:xfrm>
          <a:prstGeom prst="roundRect">
            <a:avLst>
              <a:gd name="adj" fmla="val 9756"/>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10" name="Text 7"/>
          <p:cNvSpPr/>
          <p:nvPr/>
        </p:nvSpPr>
        <p:spPr>
          <a:xfrm>
            <a:off x="5623560" y="1856232"/>
            <a:ext cx="914400" cy="658368"/>
          </a:xfrm>
          <a:prstGeom prst="rect">
            <a:avLst/>
          </a:prstGeom>
          <a:noFill/>
          <a:ln/>
        </p:spPr>
        <p:txBody>
          <a:bodyPr wrap="square" lIns="0" tIns="0" rIns="0" bIns="0" rtlCol="0" anchor="ctr"/>
          <a:lstStyle/>
          <a:p>
            <a:pPr marL="0" indent="0" algn="ctr">
              <a:buNone/>
            </a:pPr>
            <a:r>
              <a:rPr lang="en-US" sz="2800" b="1" dirty="0">
                <a:solidFill>
                  <a:srgbClr val="007A73"/>
                </a:solidFill>
                <a:latin typeface="Calibri" pitchFamily="34" charset="0"/>
                <a:ea typeface="Calibri" pitchFamily="34" charset="-122"/>
                <a:cs typeface="Calibri" pitchFamily="34" charset="-120"/>
              </a:rPr>
              <a:t>1.00</a:t>
            </a:r>
            <a:endParaRPr lang="en-US" sz="2800" dirty="0"/>
          </a:p>
        </p:txBody>
      </p:sp>
      <p:sp>
        <p:nvSpPr>
          <p:cNvPr id="11" name="Text 8"/>
          <p:cNvSpPr/>
          <p:nvPr/>
        </p:nvSpPr>
        <p:spPr>
          <a:xfrm>
            <a:off x="6583680" y="1865376"/>
            <a:ext cx="2148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Precision</a:t>
            </a:r>
            <a:endParaRPr lang="en-US" sz="1300" dirty="0"/>
          </a:p>
        </p:txBody>
      </p:sp>
      <p:sp>
        <p:nvSpPr>
          <p:cNvPr id="12" name="Text 9"/>
          <p:cNvSpPr/>
          <p:nvPr/>
        </p:nvSpPr>
        <p:spPr>
          <a:xfrm>
            <a:off x="6583680" y="2157984"/>
            <a:ext cx="2148840" cy="274320"/>
          </a:xfrm>
          <a:prstGeom prst="rect">
            <a:avLst/>
          </a:prstGeom>
          <a:noFill/>
          <a:ln/>
        </p:spPr>
        <p:txBody>
          <a:bodyPr wrap="square" lIns="0" tIns="0" rIns="0" bIns="0" rtlCol="0" anchor="ctr"/>
          <a:lstStyle/>
          <a:p>
            <a:pPr marL="0" indent="0">
              <a:buNone/>
            </a:pPr>
            <a:r>
              <a:rPr lang="en-US" sz="1100" dirty="0">
                <a:solidFill>
                  <a:srgbClr val="7A8C99"/>
                </a:solidFill>
                <a:latin typeface="Calibri" pitchFamily="34" charset="0"/>
                <a:ea typeface="Calibri" pitchFamily="34" charset="-122"/>
                <a:cs typeface="Calibri" pitchFamily="34" charset="-120"/>
              </a:rPr>
              <a:t>Zero false positives</a:t>
            </a:r>
            <a:endParaRPr lang="en-US" sz="1100" dirty="0"/>
          </a:p>
        </p:txBody>
      </p:sp>
      <p:sp>
        <p:nvSpPr>
          <p:cNvPr id="13" name="Shape 10"/>
          <p:cNvSpPr/>
          <p:nvPr/>
        </p:nvSpPr>
        <p:spPr>
          <a:xfrm>
            <a:off x="5577840" y="2660904"/>
            <a:ext cx="3246120" cy="749808"/>
          </a:xfrm>
          <a:prstGeom prst="roundRect">
            <a:avLst>
              <a:gd name="adj" fmla="val 9756"/>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14" name="Text 11"/>
          <p:cNvSpPr/>
          <p:nvPr/>
        </p:nvSpPr>
        <p:spPr>
          <a:xfrm>
            <a:off x="5623560" y="2706624"/>
            <a:ext cx="914400" cy="658368"/>
          </a:xfrm>
          <a:prstGeom prst="rect">
            <a:avLst/>
          </a:prstGeom>
          <a:noFill/>
          <a:ln/>
        </p:spPr>
        <p:txBody>
          <a:bodyPr wrap="square" lIns="0" tIns="0" rIns="0" bIns="0" rtlCol="0" anchor="ctr"/>
          <a:lstStyle/>
          <a:p>
            <a:pPr marL="0" indent="0" algn="ctr">
              <a:buNone/>
            </a:pPr>
            <a:r>
              <a:rPr lang="en-US" sz="2800" b="1" dirty="0">
                <a:solidFill>
                  <a:srgbClr val="007A73"/>
                </a:solidFill>
                <a:latin typeface="Calibri" pitchFamily="34" charset="0"/>
                <a:ea typeface="Calibri" pitchFamily="34" charset="-122"/>
                <a:cs typeface="Calibri" pitchFamily="34" charset="-120"/>
              </a:rPr>
              <a:t>0.97</a:t>
            </a:r>
            <a:endParaRPr lang="en-US" sz="2800" dirty="0"/>
          </a:p>
        </p:txBody>
      </p:sp>
      <p:sp>
        <p:nvSpPr>
          <p:cNvPr id="15" name="Text 12"/>
          <p:cNvSpPr/>
          <p:nvPr/>
        </p:nvSpPr>
        <p:spPr>
          <a:xfrm>
            <a:off x="6583680" y="2715768"/>
            <a:ext cx="2148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F1 Score</a:t>
            </a:r>
            <a:endParaRPr lang="en-US" sz="1300" dirty="0"/>
          </a:p>
        </p:txBody>
      </p:sp>
      <p:sp>
        <p:nvSpPr>
          <p:cNvPr id="16" name="Text 13"/>
          <p:cNvSpPr/>
          <p:nvPr/>
        </p:nvSpPr>
        <p:spPr>
          <a:xfrm>
            <a:off x="6583680" y="3008376"/>
            <a:ext cx="2148840" cy="274320"/>
          </a:xfrm>
          <a:prstGeom prst="rect">
            <a:avLst/>
          </a:prstGeom>
          <a:noFill/>
          <a:ln/>
        </p:spPr>
        <p:txBody>
          <a:bodyPr wrap="square" lIns="0" tIns="0" rIns="0" bIns="0" rtlCol="0" anchor="ctr"/>
          <a:lstStyle/>
          <a:p>
            <a:pPr marL="0" indent="0">
              <a:buNone/>
            </a:pPr>
            <a:r>
              <a:rPr lang="en-US" sz="1100" dirty="0">
                <a:solidFill>
                  <a:srgbClr val="7A8C99"/>
                </a:solidFill>
                <a:latin typeface="Calibri" pitchFamily="34" charset="0"/>
                <a:ea typeface="Calibri" pitchFamily="34" charset="-122"/>
                <a:cs typeface="Calibri" pitchFamily="34" charset="-120"/>
              </a:rPr>
              <a:t>Recall: 0.95</a:t>
            </a:r>
            <a:endParaRPr lang="en-US" sz="1100" dirty="0"/>
          </a:p>
        </p:txBody>
      </p:sp>
      <p:sp>
        <p:nvSpPr>
          <p:cNvPr id="17" name="Shape 14"/>
          <p:cNvSpPr/>
          <p:nvPr/>
        </p:nvSpPr>
        <p:spPr>
          <a:xfrm>
            <a:off x="5577840" y="3511296"/>
            <a:ext cx="3246120" cy="749808"/>
          </a:xfrm>
          <a:prstGeom prst="roundRect">
            <a:avLst>
              <a:gd name="adj" fmla="val 9756"/>
            </a:avLst>
          </a:prstGeom>
          <a:solidFill>
            <a:srgbClr val="E6F3F2"/>
          </a:solidFill>
          <a:ln w="10160">
            <a:solidFill>
              <a:srgbClr val="007A73"/>
            </a:solidFill>
            <a:prstDash val="solid"/>
          </a:ln>
          <a:effectLst>
            <a:outerShdw blurRad="76200" dist="25400" dir="2700000" algn="bl" rotWithShape="0">
              <a:srgbClr val="000000">
                <a:alpha val="10000"/>
              </a:srgbClr>
            </a:outerShdw>
          </a:effectLst>
        </p:spPr>
        <p:txBody>
          <a:bodyPr/>
          <a:lstStyle/>
          <a:p>
            <a:endParaRPr lang="en-US"/>
          </a:p>
        </p:txBody>
      </p:sp>
      <p:sp>
        <p:nvSpPr>
          <p:cNvPr id="18" name="Text 15"/>
          <p:cNvSpPr/>
          <p:nvPr/>
        </p:nvSpPr>
        <p:spPr>
          <a:xfrm>
            <a:off x="5623560" y="3557016"/>
            <a:ext cx="914400" cy="658368"/>
          </a:xfrm>
          <a:prstGeom prst="rect">
            <a:avLst/>
          </a:prstGeom>
          <a:noFill/>
          <a:ln/>
        </p:spPr>
        <p:txBody>
          <a:bodyPr wrap="square" lIns="0" tIns="0" rIns="0" bIns="0" rtlCol="0" anchor="ctr"/>
          <a:lstStyle/>
          <a:p>
            <a:pPr marL="0" indent="0" algn="ctr">
              <a:buNone/>
            </a:pPr>
            <a:r>
              <a:rPr lang="en-US" sz="2800" b="1" dirty="0">
                <a:solidFill>
                  <a:srgbClr val="007A73"/>
                </a:solidFill>
                <a:latin typeface="Calibri" pitchFamily="34" charset="0"/>
                <a:ea typeface="Calibri" pitchFamily="34" charset="-122"/>
                <a:cs typeface="Calibri" pitchFamily="34" charset="-120"/>
              </a:rPr>
              <a:t>0.96</a:t>
            </a:r>
            <a:endParaRPr lang="en-US" sz="2800" dirty="0"/>
          </a:p>
        </p:txBody>
      </p:sp>
      <p:sp>
        <p:nvSpPr>
          <p:cNvPr id="19" name="Text 16"/>
          <p:cNvSpPr/>
          <p:nvPr/>
        </p:nvSpPr>
        <p:spPr>
          <a:xfrm>
            <a:off x="6583680" y="3566160"/>
            <a:ext cx="214884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Report Quality</a:t>
            </a:r>
            <a:endParaRPr lang="en-US" sz="1300" dirty="0"/>
          </a:p>
        </p:txBody>
      </p:sp>
      <p:sp>
        <p:nvSpPr>
          <p:cNvPr id="20" name="Text 17"/>
          <p:cNvSpPr/>
          <p:nvPr/>
        </p:nvSpPr>
        <p:spPr>
          <a:xfrm>
            <a:off x="6583680" y="3858768"/>
            <a:ext cx="2148840" cy="274320"/>
          </a:xfrm>
          <a:prstGeom prst="rect">
            <a:avLst/>
          </a:prstGeom>
          <a:noFill/>
          <a:ln/>
        </p:spPr>
        <p:txBody>
          <a:bodyPr wrap="square" lIns="0" tIns="0" rIns="0" bIns="0" rtlCol="0" anchor="ctr"/>
          <a:lstStyle/>
          <a:p>
            <a:pPr marL="0" indent="0">
              <a:buNone/>
            </a:pPr>
            <a:r>
              <a:rPr lang="en-US" sz="1100" dirty="0">
                <a:solidFill>
                  <a:srgbClr val="7A8C99"/>
                </a:solidFill>
                <a:latin typeface="Calibri" pitchFamily="34" charset="0"/>
                <a:ea typeface="Calibri" pitchFamily="34" charset="-122"/>
                <a:cs typeface="Calibri" pitchFamily="34" charset="-120"/>
              </a:rPr>
              <a:t>12-point clinical rubric</a:t>
            </a:r>
            <a:endParaRPr lang="en-US" sz="1100" dirty="0"/>
          </a:p>
        </p:txBody>
      </p:sp>
      <p:sp>
        <p:nvSpPr>
          <p:cNvPr id="21" name="Text 18"/>
          <p:cNvSpPr/>
          <p:nvPr/>
        </p:nvSpPr>
        <p:spPr>
          <a:xfrm>
            <a:off x="320040" y="4498848"/>
            <a:ext cx="8503920" cy="347472"/>
          </a:xfrm>
          <a:prstGeom prst="rect">
            <a:avLst/>
          </a:prstGeom>
          <a:noFill/>
          <a:ln/>
        </p:spPr>
        <p:txBody>
          <a:bodyPr wrap="square" lIns="0" tIns="0" rIns="0" bIns="0" rtlCol="0" anchor="ctr"/>
          <a:lstStyle/>
          <a:p>
            <a:pPr marL="0" indent="0" algn="ctr">
              <a:buNone/>
            </a:pPr>
            <a:r>
              <a:rPr lang="en-US" sz="1050" i="1" dirty="0">
                <a:solidFill>
                  <a:srgbClr val="7A8C99"/>
                </a:solidFill>
                <a:latin typeface="Calibri" pitchFamily="34" charset="0"/>
                <a:ea typeface="Calibri" pitchFamily="34" charset="-122"/>
                <a:cs typeface="Calibri" pitchFamily="34" charset="-120"/>
              </a:rPr>
              <a:t>Laterality exact accuracy: 0.25  (AI over-predicts bilateral)  ·  Hallucination risk: 0% flagged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7A73"/>
          </a:solidFill>
          <a:ln w="12700">
            <a:solidFill>
              <a:srgbClr val="007A73"/>
            </a:solidFill>
            <a:prstDash val="solid"/>
          </a:ln>
        </p:spPr>
        <p:txBody>
          <a:bodyPr/>
          <a:lstStyle/>
          <a:p>
            <a:endParaRPr lang="en-US"/>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Improvements</a:t>
            </a:r>
            <a:endParaRPr lang="en-US" sz="2600" dirty="0"/>
          </a:p>
        </p:txBody>
      </p:sp>
      <p:sp>
        <p:nvSpPr>
          <p:cNvPr id="4" name="Text 2"/>
          <p:cNvSpPr/>
          <p:nvPr/>
        </p:nvSpPr>
        <p:spPr>
          <a:xfrm>
            <a:off x="5669280" y="0"/>
            <a:ext cx="3200400" cy="960120"/>
          </a:xfrm>
          <a:prstGeom prst="rect">
            <a:avLst/>
          </a:prstGeom>
          <a:noFill/>
          <a:ln/>
        </p:spPr>
        <p:txBody>
          <a:bodyPr wrap="square" lIns="0" tIns="0" rIns="0" bIns="0" rtlCol="0" anchor="ctr"/>
          <a:lstStyle/>
          <a:p>
            <a:pPr marL="0" indent="0" algn="r">
              <a:buNone/>
            </a:pPr>
            <a:r>
              <a:rPr lang="en-US" sz="1100" dirty="0">
                <a:solidFill>
                  <a:srgbClr val="CCEAE8"/>
                </a:solidFill>
                <a:latin typeface="Calibri" pitchFamily="34" charset="0"/>
                <a:ea typeface="Calibri" pitchFamily="34" charset="-122"/>
                <a:cs typeface="Calibri" pitchFamily="34" charset="-120"/>
              </a:rPr>
              <a:t>Six enhancements made since the progress presentation</a:t>
            </a:r>
            <a:endParaRPr lang="en-US" sz="1100" dirty="0"/>
          </a:p>
        </p:txBody>
      </p:sp>
      <p:sp>
        <p:nvSpPr>
          <p:cNvPr id="5" name="Shape 3"/>
          <p:cNvSpPr/>
          <p:nvPr/>
        </p:nvSpPr>
        <p:spPr>
          <a:xfrm>
            <a:off x="274320" y="1216152"/>
            <a:ext cx="411480" cy="411480"/>
          </a:xfrm>
          <a:prstGeom prst="ellipse">
            <a:avLst/>
          </a:prstGeom>
          <a:solidFill>
            <a:srgbClr val="007A73"/>
          </a:solidFill>
          <a:ln w="12700">
            <a:solidFill>
              <a:srgbClr val="007A73"/>
            </a:solidFill>
            <a:prstDash val="solid"/>
          </a:ln>
        </p:spPr>
        <p:txBody>
          <a:bodyPr/>
          <a:lstStyle/>
          <a:p>
            <a:endParaRPr lang="en-US"/>
          </a:p>
        </p:txBody>
      </p:sp>
      <p:sp>
        <p:nvSpPr>
          <p:cNvPr id="6" name="Text 4"/>
          <p:cNvSpPr/>
          <p:nvPr/>
        </p:nvSpPr>
        <p:spPr>
          <a:xfrm>
            <a:off x="274320" y="121615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777240" y="1143000"/>
            <a:ext cx="3886200" cy="320040"/>
          </a:xfrm>
          <a:prstGeom prst="rect">
            <a:avLst/>
          </a:prstGeom>
          <a:noFill/>
          <a:ln/>
        </p:spPr>
        <p:txBody>
          <a:bodyPr wrap="square" lIns="0" tIns="0" rIns="0" bIns="0" rtlCol="0" anchor="ctr"/>
          <a:lstStyle/>
          <a:p>
            <a:pPr marL="0" indent="0">
              <a:buNone/>
            </a:pPr>
            <a:r>
              <a:rPr lang="en-US" sz="1300" b="1" dirty="0">
                <a:solidFill>
                  <a:srgbClr val="007A73"/>
                </a:solidFill>
                <a:latin typeface="Calibri" pitchFamily="34" charset="0"/>
                <a:ea typeface="Calibri" pitchFamily="34" charset="-122"/>
                <a:cs typeface="Calibri" pitchFamily="34" charset="-120"/>
              </a:rPr>
              <a:t>Real Evaluation Results</a:t>
            </a:r>
            <a:endParaRPr lang="en-US" sz="1300" dirty="0"/>
          </a:p>
        </p:txBody>
      </p:sp>
      <p:sp>
        <p:nvSpPr>
          <p:cNvPr id="8" name="Text 6"/>
          <p:cNvSpPr/>
          <p:nvPr/>
        </p:nvSpPr>
        <p:spPr>
          <a:xfrm>
            <a:off x="777240" y="1463040"/>
            <a:ext cx="3886200" cy="530352"/>
          </a:xfrm>
          <a:prstGeom prst="rect">
            <a:avLst/>
          </a:prstGeom>
          <a:noFill/>
          <a:ln/>
        </p:spPr>
        <p:txBody>
          <a:bodyPr wrap="square" lIns="0" tIns="0" rIns="0" bIns="0" rtlCol="0" anchor="ctr"/>
          <a:lstStyle/>
          <a:p>
            <a:pPr marL="0" indent="0">
              <a:buNone/>
            </a:pPr>
            <a:r>
              <a:rPr lang="en-US" sz="1050" dirty="0">
                <a:solidFill>
                  <a:srgbClr val="3D4F5C"/>
                </a:solidFill>
                <a:latin typeface="Calibri" pitchFamily="34" charset="0"/>
                <a:ea typeface="Calibri" pitchFamily="34" charset="-122"/>
                <a:cs typeface="Calibri" pitchFamily="34" charset="-120"/>
              </a:rPr>
              <a:t>Actual accuracy, F1, precision, recall and per-case table printed and saved</a:t>
            </a:r>
            <a:endParaRPr lang="en-US" sz="1050" dirty="0"/>
          </a:p>
        </p:txBody>
      </p:sp>
      <p:sp>
        <p:nvSpPr>
          <p:cNvPr id="9" name="Shape 7"/>
          <p:cNvSpPr/>
          <p:nvPr/>
        </p:nvSpPr>
        <p:spPr>
          <a:xfrm>
            <a:off x="274320" y="2221992"/>
            <a:ext cx="411480" cy="411480"/>
          </a:xfrm>
          <a:prstGeom prst="ellipse">
            <a:avLst/>
          </a:prstGeom>
          <a:solidFill>
            <a:srgbClr val="007A73"/>
          </a:solidFill>
          <a:ln w="12700">
            <a:solidFill>
              <a:srgbClr val="007A73"/>
            </a:solidFill>
            <a:prstDash val="solid"/>
          </a:ln>
        </p:spPr>
        <p:txBody>
          <a:bodyPr/>
          <a:lstStyle/>
          <a:p>
            <a:endParaRPr lang="en-US"/>
          </a:p>
        </p:txBody>
      </p:sp>
      <p:sp>
        <p:nvSpPr>
          <p:cNvPr id="10" name="Text 8"/>
          <p:cNvSpPr/>
          <p:nvPr/>
        </p:nvSpPr>
        <p:spPr>
          <a:xfrm>
            <a:off x="274320" y="222199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1" name="Text 9"/>
          <p:cNvSpPr/>
          <p:nvPr/>
        </p:nvSpPr>
        <p:spPr>
          <a:xfrm>
            <a:off x="777240" y="2148840"/>
            <a:ext cx="3886200" cy="320040"/>
          </a:xfrm>
          <a:prstGeom prst="rect">
            <a:avLst/>
          </a:prstGeom>
          <a:noFill/>
          <a:ln/>
        </p:spPr>
        <p:txBody>
          <a:bodyPr wrap="square" lIns="0" tIns="0" rIns="0" bIns="0" rtlCol="0" anchor="ctr"/>
          <a:lstStyle/>
          <a:p>
            <a:pPr marL="0" indent="0">
              <a:buNone/>
            </a:pPr>
            <a:r>
              <a:rPr lang="en-US" sz="1300" b="1" dirty="0">
                <a:solidFill>
                  <a:srgbClr val="007A73"/>
                </a:solidFill>
                <a:latin typeface="Calibri" pitchFamily="34" charset="0"/>
                <a:ea typeface="Calibri" pitchFamily="34" charset="-122"/>
                <a:cs typeface="Calibri" pitchFamily="34" charset="-120"/>
              </a:rPr>
              <a:t>Expert Scoring Panel</a:t>
            </a:r>
            <a:endParaRPr lang="en-US" sz="1300" dirty="0"/>
          </a:p>
        </p:txBody>
      </p:sp>
      <p:sp>
        <p:nvSpPr>
          <p:cNvPr id="12" name="Text 10"/>
          <p:cNvSpPr/>
          <p:nvPr/>
        </p:nvSpPr>
        <p:spPr>
          <a:xfrm>
            <a:off x="777240" y="2468880"/>
            <a:ext cx="3886200" cy="530352"/>
          </a:xfrm>
          <a:prstGeom prst="rect">
            <a:avLst/>
          </a:prstGeom>
          <a:noFill/>
          <a:ln/>
        </p:spPr>
        <p:txBody>
          <a:bodyPr wrap="square" lIns="0" tIns="0" rIns="0" bIns="0" rtlCol="0" anchor="ctr"/>
          <a:lstStyle/>
          <a:p>
            <a:pPr marL="0" indent="0">
              <a:buNone/>
            </a:pPr>
            <a:r>
              <a:rPr lang="en-US" sz="1050" dirty="0">
                <a:solidFill>
                  <a:srgbClr val="3D4F5C"/>
                </a:solidFill>
                <a:latin typeface="Calibri" pitchFamily="34" charset="0"/>
                <a:ea typeface="Calibri" pitchFamily="34" charset="-122"/>
                <a:cs typeface="Calibri" pitchFamily="34" charset="-120"/>
              </a:rPr>
              <a:t>Radiologist rates reports in-app (1–5 Likert) — scores saved to expert_scores.json</a:t>
            </a:r>
            <a:endParaRPr lang="en-US" sz="1050" dirty="0"/>
          </a:p>
        </p:txBody>
      </p:sp>
      <p:sp>
        <p:nvSpPr>
          <p:cNvPr id="13" name="Shape 11"/>
          <p:cNvSpPr/>
          <p:nvPr/>
        </p:nvSpPr>
        <p:spPr>
          <a:xfrm>
            <a:off x="274320" y="3227832"/>
            <a:ext cx="411480" cy="411480"/>
          </a:xfrm>
          <a:prstGeom prst="ellipse">
            <a:avLst/>
          </a:prstGeom>
          <a:solidFill>
            <a:srgbClr val="007A73"/>
          </a:solidFill>
          <a:ln w="12700">
            <a:solidFill>
              <a:srgbClr val="007A73"/>
            </a:solidFill>
            <a:prstDash val="solid"/>
          </a:ln>
        </p:spPr>
        <p:txBody>
          <a:bodyPr/>
          <a:lstStyle/>
          <a:p>
            <a:endParaRPr lang="en-US"/>
          </a:p>
        </p:txBody>
      </p:sp>
      <p:sp>
        <p:nvSpPr>
          <p:cNvPr id="14" name="Text 12"/>
          <p:cNvSpPr/>
          <p:nvPr/>
        </p:nvSpPr>
        <p:spPr>
          <a:xfrm>
            <a:off x="274320" y="322783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5" name="Text 13"/>
          <p:cNvSpPr/>
          <p:nvPr/>
        </p:nvSpPr>
        <p:spPr>
          <a:xfrm>
            <a:off x="777240" y="3154680"/>
            <a:ext cx="3886200" cy="320040"/>
          </a:xfrm>
          <a:prstGeom prst="rect">
            <a:avLst/>
          </a:prstGeom>
          <a:noFill/>
          <a:ln/>
        </p:spPr>
        <p:txBody>
          <a:bodyPr wrap="square" lIns="0" tIns="0" rIns="0" bIns="0" rtlCol="0" anchor="ctr"/>
          <a:lstStyle/>
          <a:p>
            <a:pPr marL="0" indent="0">
              <a:buNone/>
            </a:pPr>
            <a:r>
              <a:rPr lang="en-US" sz="1300" b="1" dirty="0">
                <a:solidFill>
                  <a:srgbClr val="007A73"/>
                </a:solidFill>
                <a:latin typeface="Calibri" pitchFamily="34" charset="0"/>
                <a:ea typeface="Calibri" pitchFamily="34" charset="-122"/>
                <a:cs typeface="Calibri" pitchFamily="34" charset="-120"/>
              </a:rPr>
              <a:t>Hallucination Safeguard</a:t>
            </a:r>
            <a:endParaRPr lang="en-US" sz="1300" dirty="0"/>
          </a:p>
        </p:txBody>
      </p:sp>
      <p:sp>
        <p:nvSpPr>
          <p:cNvPr id="16" name="Text 14"/>
          <p:cNvSpPr/>
          <p:nvPr/>
        </p:nvSpPr>
        <p:spPr>
          <a:xfrm>
            <a:off x="777240" y="3474720"/>
            <a:ext cx="3886200" cy="530352"/>
          </a:xfrm>
          <a:prstGeom prst="rect">
            <a:avLst/>
          </a:prstGeom>
          <a:noFill/>
          <a:ln/>
        </p:spPr>
        <p:txBody>
          <a:bodyPr wrap="square" lIns="0" tIns="0" rIns="0" bIns="0" rtlCol="0" anchor="ctr"/>
          <a:lstStyle/>
          <a:p>
            <a:pPr marL="0" indent="0">
              <a:buNone/>
            </a:pPr>
            <a:r>
              <a:rPr lang="en-US" sz="1050" dirty="0">
                <a:solidFill>
                  <a:srgbClr val="3D4F5C"/>
                </a:solidFill>
                <a:latin typeface="Calibri" pitchFamily="34" charset="0"/>
                <a:ea typeface="Calibri" pitchFamily="34" charset="-122"/>
                <a:cs typeface="Calibri" pitchFamily="34" charset="-120"/>
              </a:rPr>
              <a:t>Step 4 self-review: Claude checks its own report, flags unsupported claims with risk badge</a:t>
            </a:r>
            <a:endParaRPr lang="en-US" sz="1050" dirty="0"/>
          </a:p>
        </p:txBody>
      </p:sp>
      <p:sp>
        <p:nvSpPr>
          <p:cNvPr id="17" name="Shape 15"/>
          <p:cNvSpPr/>
          <p:nvPr/>
        </p:nvSpPr>
        <p:spPr>
          <a:xfrm>
            <a:off x="4800600" y="1216152"/>
            <a:ext cx="411480" cy="411480"/>
          </a:xfrm>
          <a:prstGeom prst="ellipse">
            <a:avLst/>
          </a:prstGeom>
          <a:solidFill>
            <a:srgbClr val="007A73"/>
          </a:solidFill>
          <a:ln w="12700">
            <a:solidFill>
              <a:srgbClr val="007A73"/>
            </a:solidFill>
            <a:prstDash val="solid"/>
          </a:ln>
        </p:spPr>
        <p:txBody>
          <a:bodyPr/>
          <a:lstStyle/>
          <a:p>
            <a:endParaRPr lang="en-US"/>
          </a:p>
        </p:txBody>
      </p:sp>
      <p:sp>
        <p:nvSpPr>
          <p:cNvPr id="18" name="Text 16"/>
          <p:cNvSpPr/>
          <p:nvPr/>
        </p:nvSpPr>
        <p:spPr>
          <a:xfrm>
            <a:off x="4800600" y="121615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19" name="Text 17"/>
          <p:cNvSpPr/>
          <p:nvPr/>
        </p:nvSpPr>
        <p:spPr>
          <a:xfrm>
            <a:off x="5303520" y="1143000"/>
            <a:ext cx="3886200" cy="320040"/>
          </a:xfrm>
          <a:prstGeom prst="rect">
            <a:avLst/>
          </a:prstGeom>
          <a:noFill/>
          <a:ln/>
        </p:spPr>
        <p:txBody>
          <a:bodyPr wrap="square" lIns="0" tIns="0" rIns="0" bIns="0" rtlCol="0" anchor="ctr"/>
          <a:lstStyle/>
          <a:p>
            <a:pPr marL="0" indent="0">
              <a:buNone/>
            </a:pPr>
            <a:r>
              <a:rPr lang="en-US" sz="1300" b="1" dirty="0">
                <a:solidFill>
                  <a:srgbClr val="007A73"/>
                </a:solidFill>
                <a:latin typeface="Calibri" pitchFamily="34" charset="0"/>
                <a:ea typeface="Calibri" pitchFamily="34" charset="-122"/>
                <a:cs typeface="Calibri" pitchFamily="34" charset="-120"/>
              </a:rPr>
              <a:t>Baseline Comparison</a:t>
            </a:r>
            <a:endParaRPr lang="en-US" sz="1300" dirty="0"/>
          </a:p>
        </p:txBody>
      </p:sp>
      <p:sp>
        <p:nvSpPr>
          <p:cNvPr id="20" name="Text 18"/>
          <p:cNvSpPr/>
          <p:nvPr/>
        </p:nvSpPr>
        <p:spPr>
          <a:xfrm>
            <a:off x="5303520" y="1463040"/>
            <a:ext cx="3886200" cy="530352"/>
          </a:xfrm>
          <a:prstGeom prst="rect">
            <a:avLst/>
          </a:prstGeom>
          <a:noFill/>
          <a:ln/>
        </p:spPr>
        <p:txBody>
          <a:bodyPr wrap="square" lIns="0" tIns="0" rIns="0" bIns="0" rtlCol="0" anchor="ctr"/>
          <a:lstStyle/>
          <a:p>
            <a:pPr marL="0" indent="0">
              <a:buNone/>
            </a:pPr>
            <a:r>
              <a:rPr lang="en-US" sz="1050" dirty="0">
                <a:solidFill>
                  <a:srgbClr val="3D4F5C"/>
                </a:solidFill>
                <a:latin typeface="Calibri" pitchFamily="34" charset="0"/>
                <a:ea typeface="Calibri" pitchFamily="34" charset="-122"/>
                <a:cs typeface="Calibri" pitchFamily="34" charset="-120"/>
              </a:rPr>
              <a:t>AI report vs rule-based template displayed side by side in the UI</a:t>
            </a:r>
            <a:endParaRPr lang="en-US" sz="1050" dirty="0"/>
          </a:p>
        </p:txBody>
      </p:sp>
      <p:sp>
        <p:nvSpPr>
          <p:cNvPr id="21" name="Shape 19"/>
          <p:cNvSpPr/>
          <p:nvPr/>
        </p:nvSpPr>
        <p:spPr>
          <a:xfrm>
            <a:off x="4800600" y="2221992"/>
            <a:ext cx="411480" cy="411480"/>
          </a:xfrm>
          <a:prstGeom prst="ellipse">
            <a:avLst/>
          </a:prstGeom>
          <a:solidFill>
            <a:srgbClr val="007A73"/>
          </a:solidFill>
          <a:ln w="12700">
            <a:solidFill>
              <a:srgbClr val="007A73"/>
            </a:solidFill>
            <a:prstDash val="solid"/>
          </a:ln>
        </p:spPr>
        <p:txBody>
          <a:bodyPr/>
          <a:lstStyle/>
          <a:p>
            <a:endParaRPr lang="en-US"/>
          </a:p>
        </p:txBody>
      </p:sp>
      <p:sp>
        <p:nvSpPr>
          <p:cNvPr id="22" name="Text 20"/>
          <p:cNvSpPr/>
          <p:nvPr/>
        </p:nvSpPr>
        <p:spPr>
          <a:xfrm>
            <a:off x="4800600" y="222199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3" name="Text 21"/>
          <p:cNvSpPr/>
          <p:nvPr/>
        </p:nvSpPr>
        <p:spPr>
          <a:xfrm>
            <a:off x="5303520" y="2148840"/>
            <a:ext cx="3886200" cy="320040"/>
          </a:xfrm>
          <a:prstGeom prst="rect">
            <a:avLst/>
          </a:prstGeom>
          <a:noFill/>
          <a:ln/>
        </p:spPr>
        <p:txBody>
          <a:bodyPr wrap="square" lIns="0" tIns="0" rIns="0" bIns="0" rtlCol="0" anchor="ctr"/>
          <a:lstStyle/>
          <a:p>
            <a:pPr marL="0" indent="0">
              <a:buNone/>
            </a:pPr>
            <a:r>
              <a:rPr lang="en-US" sz="1300" b="1" dirty="0">
                <a:solidFill>
                  <a:srgbClr val="007A73"/>
                </a:solidFill>
                <a:latin typeface="Calibri" pitchFamily="34" charset="0"/>
                <a:ea typeface="Calibri" pitchFamily="34" charset="-122"/>
                <a:cs typeface="Calibri" pitchFamily="34" charset="-120"/>
              </a:rPr>
              <a:t>All 4 MRI Sequences</a:t>
            </a:r>
            <a:endParaRPr lang="en-US" sz="1300" dirty="0"/>
          </a:p>
        </p:txBody>
      </p:sp>
      <p:sp>
        <p:nvSpPr>
          <p:cNvPr id="24" name="Text 22"/>
          <p:cNvSpPr/>
          <p:nvPr/>
        </p:nvSpPr>
        <p:spPr>
          <a:xfrm>
            <a:off x="5303520" y="2468880"/>
            <a:ext cx="3886200" cy="530352"/>
          </a:xfrm>
          <a:prstGeom prst="rect">
            <a:avLst/>
          </a:prstGeom>
          <a:noFill/>
          <a:ln/>
        </p:spPr>
        <p:txBody>
          <a:bodyPr wrap="square" lIns="0" tIns="0" rIns="0" bIns="0" rtlCol="0" anchor="ctr"/>
          <a:lstStyle/>
          <a:p>
            <a:pPr marL="0" indent="0">
              <a:buNone/>
            </a:pPr>
            <a:r>
              <a:rPr lang="en-US" sz="1050" dirty="0">
                <a:solidFill>
                  <a:srgbClr val="3D4F5C"/>
                </a:solidFill>
                <a:latin typeface="Calibri" pitchFamily="34" charset="0"/>
                <a:ea typeface="Calibri" pitchFamily="34" charset="-122"/>
                <a:cs typeface="Calibri" pitchFamily="34" charset="-120"/>
              </a:rPr>
              <a:t>FLAIR · T1 · T1ce · T2 all sent to Claude — not FLAIR only</a:t>
            </a:r>
            <a:endParaRPr lang="en-US" sz="1050" dirty="0"/>
          </a:p>
        </p:txBody>
      </p:sp>
      <p:sp>
        <p:nvSpPr>
          <p:cNvPr id="25" name="Shape 23"/>
          <p:cNvSpPr/>
          <p:nvPr/>
        </p:nvSpPr>
        <p:spPr>
          <a:xfrm>
            <a:off x="4800600" y="3227832"/>
            <a:ext cx="411480" cy="411480"/>
          </a:xfrm>
          <a:prstGeom prst="ellipse">
            <a:avLst/>
          </a:prstGeom>
          <a:solidFill>
            <a:srgbClr val="007A73"/>
          </a:solidFill>
          <a:ln w="12700">
            <a:solidFill>
              <a:srgbClr val="007A73"/>
            </a:solidFill>
            <a:prstDash val="solid"/>
          </a:ln>
        </p:spPr>
        <p:txBody>
          <a:bodyPr/>
          <a:lstStyle/>
          <a:p>
            <a:endParaRPr lang="en-US"/>
          </a:p>
        </p:txBody>
      </p:sp>
      <p:sp>
        <p:nvSpPr>
          <p:cNvPr id="26" name="Text 24"/>
          <p:cNvSpPr/>
          <p:nvPr/>
        </p:nvSpPr>
        <p:spPr>
          <a:xfrm>
            <a:off x="4800600" y="322783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27" name="Text 25"/>
          <p:cNvSpPr/>
          <p:nvPr/>
        </p:nvSpPr>
        <p:spPr>
          <a:xfrm>
            <a:off x="5303520" y="3154680"/>
            <a:ext cx="3886200" cy="320040"/>
          </a:xfrm>
          <a:prstGeom prst="rect">
            <a:avLst/>
          </a:prstGeom>
          <a:noFill/>
          <a:ln/>
        </p:spPr>
        <p:txBody>
          <a:bodyPr wrap="square" lIns="0" tIns="0" rIns="0" bIns="0" rtlCol="0" anchor="ctr"/>
          <a:lstStyle/>
          <a:p>
            <a:pPr marL="0" indent="0">
              <a:buNone/>
            </a:pPr>
            <a:r>
              <a:rPr lang="en-US" sz="1300" b="1" dirty="0">
                <a:solidFill>
                  <a:srgbClr val="007A73"/>
                </a:solidFill>
                <a:latin typeface="Calibri" pitchFamily="34" charset="0"/>
                <a:ea typeface="Calibri" pitchFamily="34" charset="-122"/>
                <a:cs typeface="Calibri" pitchFamily="34" charset="-120"/>
              </a:rPr>
              <a:t>Visual GT Overlays</a:t>
            </a:r>
            <a:endParaRPr lang="en-US" sz="1300" dirty="0"/>
          </a:p>
        </p:txBody>
      </p:sp>
      <p:sp>
        <p:nvSpPr>
          <p:cNvPr id="28" name="Text 26"/>
          <p:cNvSpPr/>
          <p:nvPr/>
        </p:nvSpPr>
        <p:spPr>
          <a:xfrm>
            <a:off x="5303520" y="3474720"/>
            <a:ext cx="3840480" cy="530352"/>
          </a:xfrm>
          <a:prstGeom prst="rect">
            <a:avLst/>
          </a:prstGeom>
          <a:noFill/>
          <a:ln/>
        </p:spPr>
        <p:txBody>
          <a:bodyPr wrap="square" lIns="0" tIns="0" rIns="0" bIns="0" rtlCol="0" anchor="ctr"/>
          <a:lstStyle/>
          <a:p>
            <a:pPr marL="0" indent="0">
              <a:buNone/>
            </a:pPr>
            <a:r>
              <a:rPr lang="en-US" sz="1050" dirty="0">
                <a:solidFill>
                  <a:srgbClr val="3D4F5C"/>
                </a:solidFill>
                <a:latin typeface="Calibri" pitchFamily="34" charset="0"/>
                <a:ea typeface="Calibri" pitchFamily="34" charset="-122"/>
                <a:cs typeface="Calibri" pitchFamily="34" charset="-120"/>
              </a:rPr>
              <a:t>Tumor mask overlaid on FLAIR in colour: red=necrotic, yellow=edema, green=enhancing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B021C48-D4DF-7A33-6AFE-C0819C67D935}"/>
              </a:ext>
            </a:extLst>
          </p:cNvPr>
          <p:cNvSpPr/>
          <p:nvPr/>
        </p:nvSpPr>
        <p:spPr>
          <a:xfrm>
            <a:off x="0" y="0"/>
            <a:ext cx="9144000" cy="522514"/>
          </a:xfrm>
          <a:prstGeom prst="rect">
            <a:avLst/>
          </a:prstGeom>
          <a:solidFill>
            <a:srgbClr val="007A73"/>
          </a:solidFill>
          <a:ln w="12700">
            <a:solidFill>
              <a:srgbClr val="007A73"/>
            </a:solidFill>
            <a:prstDash val="solid"/>
          </a:ln>
        </p:spPr>
        <p:txBody>
          <a:bodyPr/>
          <a:lstStyle/>
          <a:p>
            <a:pPr algn="ctr"/>
            <a:r>
              <a:rPr lang="en-US" sz="3200" b="1" dirty="0">
                <a:solidFill>
                  <a:srgbClr val="FFFFFF"/>
                </a:solidFill>
                <a:latin typeface="Calibri" pitchFamily="34" charset="0"/>
                <a:ea typeface="Calibri" pitchFamily="34" charset="-122"/>
                <a:cs typeface="Calibri" pitchFamily="34" charset="-120"/>
              </a:rPr>
              <a:t>Live Demo</a:t>
            </a:r>
            <a:endParaRPr lang="en-US" sz="3200" dirty="0"/>
          </a:p>
        </p:txBody>
      </p:sp>
      <p:sp>
        <p:nvSpPr>
          <p:cNvPr id="5" name="Shape 27">
            <a:extLst>
              <a:ext uri="{FF2B5EF4-FFF2-40B4-BE49-F238E27FC236}">
                <a16:creationId xmlns:a16="http://schemas.microsoft.com/office/drawing/2014/main" id="{CBEB2A85-110A-4551-BA32-D9ABCB200617}"/>
              </a:ext>
            </a:extLst>
          </p:cNvPr>
          <p:cNvSpPr/>
          <p:nvPr/>
        </p:nvSpPr>
        <p:spPr>
          <a:xfrm>
            <a:off x="274320" y="4502114"/>
            <a:ext cx="8595360" cy="468303"/>
          </a:xfrm>
          <a:prstGeom prst="roundRect">
            <a:avLst>
              <a:gd name="adj" fmla="val 11765"/>
            </a:avLst>
          </a:prstGeom>
          <a:solidFill>
            <a:srgbClr val="E6F3F2"/>
          </a:solidFill>
          <a:ln w="19050">
            <a:solidFill>
              <a:srgbClr val="007A73"/>
            </a:solidFill>
            <a:prstDash val="solid"/>
          </a:ln>
        </p:spPr>
        <p:txBody>
          <a:bodyPr/>
          <a:lstStyle/>
          <a:p>
            <a:endParaRPr lang="en-US"/>
          </a:p>
        </p:txBody>
      </p:sp>
      <p:sp>
        <p:nvSpPr>
          <p:cNvPr id="7" name="Text 28">
            <a:extLst>
              <a:ext uri="{FF2B5EF4-FFF2-40B4-BE49-F238E27FC236}">
                <a16:creationId xmlns:a16="http://schemas.microsoft.com/office/drawing/2014/main" id="{5820596C-31FB-634E-0717-B7C7E7CC358C}"/>
              </a:ext>
            </a:extLst>
          </p:cNvPr>
          <p:cNvSpPr/>
          <p:nvPr/>
        </p:nvSpPr>
        <p:spPr>
          <a:xfrm>
            <a:off x="274320" y="4502114"/>
            <a:ext cx="8595360" cy="468303"/>
          </a:xfrm>
          <a:prstGeom prst="rect">
            <a:avLst/>
          </a:prstGeom>
          <a:noFill/>
          <a:ln/>
        </p:spPr>
        <p:txBody>
          <a:bodyPr wrap="square" lIns="0" tIns="0" rIns="0" bIns="0" rtlCol="0" anchor="ctr"/>
          <a:lstStyle/>
          <a:p>
            <a:pPr marL="0" indent="0" algn="ctr">
              <a:buNone/>
            </a:pPr>
            <a:r>
              <a:rPr lang="en-US" sz="1200" b="1" dirty="0">
                <a:solidFill>
                  <a:srgbClr val="007A73"/>
                </a:solidFill>
                <a:latin typeface="Calibri" pitchFamily="34" charset="0"/>
                <a:ea typeface="Calibri" pitchFamily="34" charset="-122"/>
                <a:cs typeface="Calibri" pitchFamily="34" charset="-120"/>
              </a:rPr>
              <a:t>🎬  LIVE DEMO  —  http://127.0.0.1:7860   ·   Open volume_114</a:t>
            </a:r>
            <a:endParaRPr lang="en-US" sz="1200" dirty="0"/>
          </a:p>
        </p:txBody>
      </p:sp>
      <p:pic>
        <p:nvPicPr>
          <p:cNvPr id="2" name="MRI Report Agent Demo - Google Chrome 2026-06-15 12-20-46">
            <a:hlinkClick r:id="" action="ppaction://media"/>
            <a:extLst>
              <a:ext uri="{FF2B5EF4-FFF2-40B4-BE49-F238E27FC236}">
                <a16:creationId xmlns:a16="http://schemas.microsoft.com/office/drawing/2014/main" id="{7B404E0C-B7F2-E620-6B7D-3A46307EAE8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39294" y="628688"/>
            <a:ext cx="6483329" cy="3484789"/>
          </a:xfrm>
          <a:prstGeom prst="rect">
            <a:avLst/>
          </a:prstGeom>
        </p:spPr>
      </p:pic>
    </p:spTree>
    <p:extLst>
      <p:ext uri="{BB962C8B-B14F-4D97-AF65-F5344CB8AC3E}">
        <p14:creationId xmlns:p14="http://schemas.microsoft.com/office/powerpoint/2010/main" val="353969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05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703</Words>
  <Application>Microsoft Office PowerPoint</Application>
  <PresentationFormat>On-screen Show (16:9)</PresentationFormat>
  <Paragraphs>67</Paragraphs>
  <Slides>5</Slides>
  <Notes>4</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MRI Report Generation Agent</dc:title>
  <dc:subject>PptxGenJS Presentation</dc:subject>
  <dc:creator>Sobia Khan</dc:creator>
  <cp:lastModifiedBy>ARSHAD SOBIA</cp:lastModifiedBy>
  <cp:revision>3</cp:revision>
  <dcterms:created xsi:type="dcterms:W3CDTF">2026-06-14T07:08:47Z</dcterms:created>
  <dcterms:modified xsi:type="dcterms:W3CDTF">2026-06-15T03:31:42Z</dcterms:modified>
</cp:coreProperties>
</file>